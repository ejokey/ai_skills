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188720"/>
            <a:ext cx="3108960" cy="310896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91440"/>
            <a:ext cx="1371600" cy="1371600"/>
          </a:xfrm>
          <a:prstGeom prst="ellipse">
            <a:avLst/>
          </a:prstGeom>
          <a:solidFill>
            <a:srgbClr val="E9B44C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3931920"/>
            <a:ext cx="2194560" cy="2194560"/>
          </a:xfrm>
          <a:prstGeom prst="ellipse">
            <a:avLst/>
          </a:prstGeom>
          <a:solidFill>
            <a:srgbClr val="E9B44C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66928"/>
            <a:ext cx="306324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E9B4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6692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КОММЕРЧЕСКОЕ ПРЕДЛОЖЕНИЕ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6949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Разработка сайта для</a:t>
            </a:r>
            <a:endParaRPr lang="en-US" sz="3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благотворительного фонда</a:t>
            </a:r>
            <a:endParaRPr lang="en-US" sz="3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«Добрые дела»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548640" y="2907792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пути к результату: классический конструктор Тильда или Vibe-лендинг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ИИ-текстами — плюс виджет приёма пожертвований прямо на сайте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E9B4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8404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Тильда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84248" y="384048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E9B4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84248" y="3840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Vibe-лендинг с ИИ-текстами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37176" y="384048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E9B4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37176" y="38404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Виджет пожертвований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5720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Агентство «Социальные сети» · snetwork.io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0" y="4572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КП · ФОНД «ДОБРЫЕ ДЕЛА»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Содержание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29184" cy="32918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" y="16642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Резюме предложения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258568"/>
            <a:ext cx="329184" cy="32918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58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22311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Понимание задачи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825496"/>
            <a:ext cx="329184" cy="32918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25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279806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варианта решения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392424"/>
            <a:ext cx="329184" cy="32918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92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33649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Виджет пожертвований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959352"/>
            <a:ext cx="329184" cy="32918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59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97280" y="39319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Смета и сроки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892040" y="1691640"/>
            <a:ext cx="329184" cy="32918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49240" y="16642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Эксплуатация: кто вносит изменения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892040" y="2258568"/>
            <a:ext cx="329184" cy="32918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2258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49240" y="22311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Релевантный опыт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892040" y="2825496"/>
            <a:ext cx="329184" cy="32918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2825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49240" y="279806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Техническая поддержка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4892040" y="3392424"/>
            <a:ext cx="329184" cy="32918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3392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49240" y="33649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Контакты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57200" y="485089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Агентство «Социальные сети» · КП · Фонд «Добрые дела»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772400" y="48508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24128" y="384048"/>
            <a:ext cx="7662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Резюме предложения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24128" y="932688"/>
            <a:ext cx="7662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Самое важное — на одном слайде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938528" cy="2331720"/>
          </a:xfrm>
          <a:prstGeom prst="roundRect">
            <a:avLst>
              <a:gd name="adj" fmla="val 6604"/>
            </a:avLst>
          </a:prstGeom>
          <a:solidFill>
            <a:srgbClr val="EEF3E8"/>
          </a:solidFill>
          <a:ln/>
          <a:effectLst>
            <a:outerShdw sx="100000" sy="100000" kx="0" ky="0" algn="bl" rotWithShape="0" blurRad="88900" dist="31750" dir="5400000">
              <a:srgbClr val="1B3A22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70432" y="1755648"/>
            <a:ext cx="512064" cy="512064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8" name="Text 6"/>
          <p:cNvSpPr/>
          <p:nvPr/>
        </p:nvSpPr>
        <p:spPr>
          <a:xfrm>
            <a:off x="1170432" y="1755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66928" y="2423160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пути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85216" y="3035808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 и бюджетный Vibe-лендинг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 классический конструктор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551176" y="1463040"/>
            <a:ext cx="1938528" cy="2331720"/>
          </a:xfrm>
          <a:prstGeom prst="roundRect">
            <a:avLst>
              <a:gd name="adj" fmla="val 6604"/>
            </a:avLst>
          </a:prstGeom>
          <a:solidFill>
            <a:srgbClr val="EEF3E8"/>
          </a:solidFill>
          <a:ln/>
          <a:effectLst>
            <a:outerShdw sx="100000" sy="100000" kx="0" ky="0" algn="bl" rotWithShape="0" blurRad="88900" dist="31750" dir="5400000">
              <a:srgbClr val="1B3A22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4408" y="1755648"/>
            <a:ext cx="512064" cy="512064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13" name="Text 11"/>
          <p:cNvSpPr/>
          <p:nvPr/>
        </p:nvSpPr>
        <p:spPr>
          <a:xfrm>
            <a:off x="3264408" y="1755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660904" y="2423160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1 недели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679192" y="3035808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 готового сайта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любому из вариантов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45152" y="1463040"/>
            <a:ext cx="1938528" cy="2331720"/>
          </a:xfrm>
          <a:prstGeom prst="roundRect">
            <a:avLst>
              <a:gd name="adj" fmla="val 6604"/>
            </a:avLst>
          </a:prstGeom>
          <a:solidFill>
            <a:srgbClr val="EEF3E8"/>
          </a:solidFill>
          <a:ln/>
          <a:effectLst>
            <a:outerShdw sx="100000" sy="100000" kx="0" ky="0" algn="bl" rotWithShape="0" blurRad="88900" dist="31750" dir="5400000">
              <a:srgbClr val="1B3A22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58384" y="1755648"/>
            <a:ext cx="512064" cy="512064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18" name="Text 16"/>
          <p:cNvSpPr/>
          <p:nvPr/>
        </p:nvSpPr>
        <p:spPr>
          <a:xfrm>
            <a:off x="5358384" y="1755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754880" y="2423160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Виджет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4773168" y="3035808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пожертвований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 на сайте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739128" y="1463040"/>
            <a:ext cx="1938528" cy="2331720"/>
          </a:xfrm>
          <a:prstGeom prst="roundRect">
            <a:avLst>
              <a:gd name="adj" fmla="val 6604"/>
            </a:avLst>
          </a:prstGeom>
          <a:solidFill>
            <a:srgbClr val="EEF3E8"/>
          </a:solidFill>
          <a:ln/>
          <a:effectLst>
            <a:outerShdw sx="100000" sy="100000" kx="0" ky="0" algn="bl" rotWithShape="0" blurRad="88900" dist="31750" dir="5400000">
              <a:srgbClr val="1B3A22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52360" y="1755648"/>
            <a:ext cx="512064" cy="512064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23" name="Text 21"/>
          <p:cNvSpPr/>
          <p:nvPr/>
        </p:nvSpPr>
        <p:spPr>
          <a:xfrm>
            <a:off x="7452360" y="1755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848856" y="2423160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30–100 тыс. ₽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6867144" y="3035808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Диапазон стоимости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зависимости от варианта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50000"/>
            </a:avLst>
          </a:prstGeom>
          <a:solidFill>
            <a:srgbClr val="F8F0DC"/>
          </a:solidFill>
          <a:ln/>
        </p:spPr>
      </p:sp>
      <p:sp>
        <p:nvSpPr>
          <p:cNvPr id="27" name="Shape 25"/>
          <p:cNvSpPr/>
          <p:nvPr/>
        </p:nvSpPr>
        <p:spPr>
          <a:xfrm>
            <a:off x="713232" y="4133088"/>
            <a:ext cx="329184" cy="329184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88720" y="3977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виджета пожертвований считается отдельно от сайта и определяется по итогам брифинга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485089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Агентство «Социальные сети» · КП · Фонд «Добрые дела»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772400" y="48508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24128" y="384048"/>
            <a:ext cx="7662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Понимание задачи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24128" y="932688"/>
            <a:ext cx="7662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Современный сайт, который работает на миссию фонда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977640" cy="2514600"/>
          </a:xfrm>
          <a:prstGeom prst="roundRect">
            <a:avLst>
              <a:gd name="adj" fmla="val 5091"/>
            </a:avLst>
          </a:prstGeom>
          <a:solidFill>
            <a:srgbClr val="F7F4EC"/>
          </a:solidFill>
          <a:ln/>
          <a:effectLst>
            <a:outerShdw sx="100000" sy="100000" kx="0" ky="0" algn="bl" rotWithShape="0" blurRad="88900" dist="31750" dir="5400000">
              <a:srgbClr val="1B3A22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8745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Фонду нужен современный сайт, который: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395728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рассказывает о миссии и проектах фонда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вызывает доверие у потенциальных доноров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даёт возможность сделать пожертвование в один клик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не требует навыков программирования для обновления контента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7673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Формулировка нейтральная — уточним по брифу/ТЗ фонда.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92040" y="1673352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673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40680" y="16184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миссии и проектах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440680" y="191109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фонда, направления помощи, истории подопечных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92040" y="245973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40680" y="240487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Доверие у доноров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440680" y="26974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Прозрачность, отчётность, понятные реквизиты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92040" y="324612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40680" y="319125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Пожертвование в один клик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440680" y="348386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Виджет приёма платежей прямо на сайте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92040" y="4032504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40680" y="3977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навыков программирования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440680" y="427024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фонда сама обновляет контент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485089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Агентство «Социальные сети» · КП · Фонд «Добрые дела»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772400" y="48508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24128" y="384048"/>
            <a:ext cx="7662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варианта решения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24128" y="932688"/>
            <a:ext cx="7662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по срокам, стоимости и эксплуатации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82296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2148840"/>
                <a:gridCol w="2148840"/>
                <a:gridCol w="214884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Параметр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Vibe-лендинг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без админки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Vibe-лендинг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 админкой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Тильда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Срок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 1 недели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 3 недель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 3 недель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Стоимость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 30 000 ₽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 100 000 ₽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 100 000 ₽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Правки после сдачи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только через агентство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команда фонда — через админку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команда фонда — через Тильду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Тексты и вёрстку для Vibe-лендинга генерирует ИИ под задачу фонда — включено в стоимость.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85089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Агентство «Социальные сети» · КП · Фонд «Добрые дела»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772400" y="48508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24128" y="384048"/>
            <a:ext cx="7662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Виджет «Сделать пожертвование»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24128" y="932688"/>
            <a:ext cx="7662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пожертвований на любом варианте сайта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402336" cy="402336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9848" y="1591056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Любой вариант сайта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69848" y="1883664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Устанавливается и на Тильду, и на Vibe-лендинг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514600"/>
            <a:ext cx="402336" cy="402336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514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69848" y="2459736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Отдельная строка сметы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069848" y="2752344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виджета считается отдельно от сайта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383280"/>
            <a:ext cx="402336" cy="402336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383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9848" y="3328416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— по итогам брифинга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069848" y="3621024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Зависит от способа приёма платежей и интеграций фонда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89320" y="1481328"/>
            <a:ext cx="2651760" cy="2651760"/>
          </a:xfrm>
          <a:prstGeom prst="roundRect">
            <a:avLst>
              <a:gd name="adj" fmla="val 5517"/>
            </a:avLst>
          </a:prstGeom>
          <a:solidFill>
            <a:srgbClr val="1B3A22"/>
          </a:solidFill>
          <a:ln/>
          <a:effectLst>
            <a:outerShdw sx="100000" sy="100000" kx="0" ky="0" algn="bl" rotWithShape="0" blurRad="88900" dist="31750" dir="5400000">
              <a:srgbClr val="1B3A22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95160" y="1783080"/>
            <a:ext cx="640080" cy="640080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172200" y="248716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Сделать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пожертвование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09360" y="324612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9B44C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3246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Пожертвовать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7220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Любая сумма · безопасно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89320" y="42245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Примерный вид виджета на сайте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485089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Агентство «Социальные сети» · КП · Фонд «Добрые дела»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772400" y="48508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24128" y="384048"/>
            <a:ext cx="7662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Смета и сроки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24128" y="932688"/>
            <a:ext cx="7662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Сводная таблица по всем вариантам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71600"/>
                <a:gridCol w="1554480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Вариант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Срок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Стоимость сайта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Стоимость с виджетом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Vibe-лендинг без админки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 1 недели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 30 000 ₽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 30 000 ₽ + виджет (по брифингу)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Vibe-лендинг с админкой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 3 недель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 100 000 ₽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 100 000 ₽ + виджет (по брифингу)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Тильда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 3 недель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 100 000 ₽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 100 000 ₽ + виджет (по брифингу)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840480"/>
            <a:ext cx="8229600" cy="713232"/>
          </a:xfrm>
          <a:prstGeom prst="roundRect">
            <a:avLst>
              <a:gd name="adj" fmla="val 17949"/>
            </a:avLst>
          </a:prstGeom>
          <a:solidFill>
            <a:srgbClr val="EEF3E8"/>
          </a:solidFill>
          <a:ln/>
          <a:effectLst>
            <a:outerShdw sx="100000" sy="100000" kx="0" ky="0" algn="bl" rotWithShape="0" blurRad="88900" dist="31750" dir="5400000">
              <a:srgbClr val="1B3A22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9808" y="4005072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25880" y="384048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Техническая поддержка после сдачи проекта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035040" y="384048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3 500 ₽ / час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200" y="485089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Агентство «Социальные сети» · КП · Фонд «Добрые дела»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772400" y="48508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24128" y="384048"/>
            <a:ext cx="7662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Эксплуатация: кто вносит изменения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24128" y="932688"/>
            <a:ext cx="7662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варианта — три модели управления контентом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2624328" cy="2697480"/>
          </a:xfrm>
          <a:prstGeom prst="roundRect">
            <a:avLst>
              <a:gd name="adj" fmla="val 4878"/>
            </a:avLst>
          </a:prstGeom>
          <a:solidFill>
            <a:srgbClr val="EEF3E8"/>
          </a:solidFill>
          <a:ln/>
          <a:effectLst>
            <a:outerShdw sx="100000" sy="100000" kx="0" ky="0" algn="bl" rotWithShape="0" blurRad="88900" dist="31750" dir="5400000">
              <a:srgbClr val="1B3A22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737360"/>
            <a:ext cx="457200" cy="457200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2350008"/>
            <a:ext cx="2112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Тильда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13232" y="2962656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96265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самостоятельно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3232" y="3419856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фонда сама меняет тексты, фото и блоки в любой момент — без обращения к разработчику.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55264" y="1481328"/>
            <a:ext cx="2624328" cy="2697480"/>
          </a:xfrm>
          <a:prstGeom prst="roundRect">
            <a:avLst>
              <a:gd name="adj" fmla="val 4878"/>
            </a:avLst>
          </a:prstGeom>
          <a:solidFill>
            <a:srgbClr val="F7F4EC"/>
          </a:solidFill>
          <a:ln/>
          <a:effectLst>
            <a:outerShdw sx="100000" sy="100000" kx="0" ky="0" algn="bl" rotWithShape="0" blurRad="88900" dist="31750" dir="5400000">
              <a:srgbClr val="1B3A22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11296" y="1737360"/>
            <a:ext cx="457200" cy="457200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15" name="Text 13"/>
          <p:cNvSpPr/>
          <p:nvPr/>
        </p:nvSpPr>
        <p:spPr>
          <a:xfrm>
            <a:off x="3511296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11296" y="2350008"/>
            <a:ext cx="2112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Vibe-лендинг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админки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3511296" y="2962656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5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3511296" y="296265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агентство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11296" y="3419856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Быстрее и дешевле всего, но любые правки после запуска вносятся только через нашу команду.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53328" y="1481328"/>
            <a:ext cx="2624328" cy="2697480"/>
          </a:xfrm>
          <a:prstGeom prst="roundRect">
            <a:avLst>
              <a:gd name="adj" fmla="val 4878"/>
            </a:avLst>
          </a:prstGeom>
          <a:solidFill>
            <a:srgbClr val="F8F0DC"/>
          </a:solidFill>
          <a:ln/>
          <a:effectLst>
            <a:outerShdw sx="100000" sy="100000" kx="0" ky="0" algn="bl" rotWithShape="0" blurRad="88900" dist="31750" dir="5400000">
              <a:srgbClr val="1B3A22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1737360"/>
            <a:ext cx="457200" cy="457200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2350008"/>
            <a:ext cx="2112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Vibe-лендинг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админкой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309360" y="2962656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E9B44C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296265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своя админка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3419856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Золотая середина: простая панель управления контентом, но разработка дороже и дольше, чем базовый вариант.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485089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Агентство «Социальные сети» · КП · Фонд «Добрые дела»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772400" y="48508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24128" y="384048"/>
            <a:ext cx="7662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Релевантный опыт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24128" y="932688"/>
            <a:ext cx="7662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только коммерческие — работали с имиджевыми и социально значимыми сайтами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2624328" cy="1481328"/>
          </a:xfrm>
          <a:prstGeom prst="roundRect">
            <a:avLst>
              <a:gd name="adj" fmla="val 7407"/>
            </a:avLst>
          </a:prstGeom>
          <a:solidFill>
            <a:srgbClr val="F7F4EC"/>
          </a:solidFill>
          <a:ln/>
          <a:effectLst>
            <a:outerShdw sx="100000" sy="100000" kx="0" ky="0" algn="bl" rotWithShape="0" blurRad="88900" dist="31750" dir="5400000">
              <a:srgbClr val="1B3A22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09344"/>
            <a:ext cx="274320" cy="274320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9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956816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Атоммедиа (Росатом)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2212848"/>
            <a:ext cx="225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Личный кабинет журналиста: персональная лента, видеотрансляции, авторассылка пресс-релизов, ИИ-адаптация текстов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atommedia.online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55264" y="1444752"/>
            <a:ext cx="2624328" cy="1481328"/>
          </a:xfrm>
          <a:prstGeom prst="roundRect">
            <a:avLst>
              <a:gd name="adj" fmla="val 7407"/>
            </a:avLst>
          </a:prstGeom>
          <a:solidFill>
            <a:srgbClr val="F7F4EC"/>
          </a:solidFill>
          <a:ln/>
          <a:effectLst>
            <a:outerShdw sx="100000" sy="100000" kx="0" ky="0" algn="bl" rotWithShape="0" blurRad="88900" dist="31750" dir="5400000">
              <a:srgbClr val="1B3A22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38144" y="1609344"/>
            <a:ext cx="274320" cy="274320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14" name="Text 12"/>
          <p:cNvSpPr/>
          <p:nvPr/>
        </p:nvSpPr>
        <p:spPr>
          <a:xfrm>
            <a:off x="3438144" y="1609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38144" y="1956816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 РАО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38144" y="2212848"/>
            <a:ext cx="225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Корпоративный сайт группы (300 000+ посещений), сайт-сторителлинг, спортплатформа, интеллектуальная игра и портал конкурсов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3438144" y="2651760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проектов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53328" y="1444752"/>
            <a:ext cx="2624328" cy="1481328"/>
          </a:xfrm>
          <a:prstGeom prst="roundRect">
            <a:avLst>
              <a:gd name="adj" fmla="val 7407"/>
            </a:avLst>
          </a:prstGeom>
          <a:solidFill>
            <a:srgbClr val="F7F4EC"/>
          </a:solidFill>
          <a:ln/>
          <a:effectLst>
            <a:outerShdw sx="100000" sy="100000" kx="0" ky="0" algn="bl" rotWithShape="0" blurRad="88900" dist="31750" dir="5400000">
              <a:srgbClr val="1B3A22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36208" y="1609344"/>
            <a:ext cx="274320" cy="274320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20" name="Text 18"/>
          <p:cNvSpPr/>
          <p:nvPr/>
        </p:nvSpPr>
        <p:spPr>
          <a:xfrm>
            <a:off x="6236208" y="1609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36208" y="1956816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Недвижимость (NDA)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236208" y="2212848"/>
            <a:ext cx="225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с ИИ-ассистентом и умным поиском: +20% к конверсии за 2 месяца, 500+ диалогов, ответы клиентам 24/7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6236208" y="2651760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072384"/>
            <a:ext cx="2624328" cy="1481328"/>
          </a:xfrm>
          <a:prstGeom prst="roundRect">
            <a:avLst>
              <a:gd name="adj" fmla="val 7407"/>
            </a:avLst>
          </a:prstGeom>
          <a:solidFill>
            <a:srgbClr val="F7F4EC"/>
          </a:solidFill>
          <a:ln/>
          <a:effectLst>
            <a:outerShdw sx="100000" sy="100000" kx="0" ky="0" algn="bl" rotWithShape="0" blurRad="88900" dist="31750" dir="5400000">
              <a:srgbClr val="1B3A22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3236976"/>
            <a:ext cx="274320" cy="274320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" y="3584448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КСК — Калужская сбытовая компания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3840480"/>
            <a:ext cx="225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Корпоративный сайт, портал сотрудников и личные кабинеты — четыре проекта в долгосрочном сотрудничестве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640080" y="4279392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проекта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55264" y="3072384"/>
            <a:ext cx="2624328" cy="1481328"/>
          </a:xfrm>
          <a:prstGeom prst="roundRect">
            <a:avLst>
              <a:gd name="adj" fmla="val 7407"/>
            </a:avLst>
          </a:prstGeom>
          <a:solidFill>
            <a:srgbClr val="F7F4EC"/>
          </a:solidFill>
          <a:ln/>
          <a:effectLst>
            <a:outerShdw sx="100000" sy="100000" kx="0" ky="0" algn="bl" rotWithShape="0" blurRad="88900" dist="31750" dir="5400000">
              <a:srgbClr val="1B3A22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38144" y="3236976"/>
            <a:ext cx="274320" cy="274320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32" name="Text 30"/>
          <p:cNvSpPr/>
          <p:nvPr/>
        </p:nvSpPr>
        <p:spPr>
          <a:xfrm>
            <a:off x="3438144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38144" y="3584448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OVAL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438144" y="3840480"/>
            <a:ext cx="225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Имиджевый образовательный портал: 3D-сцены с гироскопом, продажа билетов и эквайринг, мультиязычность RU/EN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3438144" y="4279392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oval.olympicuniversity.ru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53328" y="3072384"/>
            <a:ext cx="2624328" cy="1481328"/>
          </a:xfrm>
          <a:prstGeom prst="roundRect">
            <a:avLst>
              <a:gd name="adj" fmla="val 7407"/>
            </a:avLst>
          </a:prstGeom>
          <a:solidFill>
            <a:srgbClr val="F7F4EC"/>
          </a:solidFill>
          <a:ln/>
          <a:effectLst>
            <a:outerShdw sx="100000" sy="100000" kx="0" ky="0" algn="bl" rotWithShape="0" blurRad="88900" dist="31750" dir="5400000">
              <a:srgbClr val="1B3A22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36208" y="3236976"/>
            <a:ext cx="274320" cy="274320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38" name="Text 36"/>
          <p:cNvSpPr/>
          <p:nvPr/>
        </p:nvSpPr>
        <p:spPr>
          <a:xfrm>
            <a:off x="6236208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36208" y="3584448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АГК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236208" y="3840480"/>
            <a:ext cx="225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Сайт-сторителлинг «Энергия из отходов»: наглядная подача сложного технологического процесса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6236208" y="4279392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w2e.ru/process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7200" y="485089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Агентство «Социальные сети» · КП · Фонд «Добрые дела»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772400" y="48508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24128" y="384048"/>
            <a:ext cx="7662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Техническая поддержка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24128" y="932688"/>
            <a:ext cx="7662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Остаёмся на связи после сдачи проекта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383280" cy="2286000"/>
          </a:xfrm>
          <a:prstGeom prst="roundRect">
            <a:avLst>
              <a:gd name="adj" fmla="val 5600"/>
            </a:avLst>
          </a:prstGeom>
          <a:solidFill>
            <a:srgbClr val="1B3A22"/>
          </a:solidFill>
          <a:ln/>
          <a:effectLst>
            <a:outerShdw sx="100000" sy="100000" kx="0" ky="0" algn="bl" rotWithShape="0" blurRad="88900" dist="31750" dir="5400000">
              <a:srgbClr val="1B3A22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9659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3 500 ₽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26700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час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1272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Поддержка и доработки после сдачи проекта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80560" y="1691640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47488" y="163677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Правки после запуска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047488" y="1929384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Быстрые изменения контента и доработки силами агентства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80560" y="2651760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47488" y="259689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Консультации команды фонда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047488" y="2889504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Помогаем работать с сайтом и обновлять контент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480560" y="37947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 SLA и гарантий обсуждаем отдельно — на брифинге.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85089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Агентство «Социальные сети» · КП · Фонд «Добрые дела»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772400" y="48508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2926080" cy="292608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4023360"/>
            <a:ext cx="2103120" cy="2103120"/>
          </a:xfrm>
          <a:prstGeom prst="ellipse">
            <a:avLst/>
          </a:prstGeom>
          <a:solidFill>
            <a:srgbClr val="E9B44C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822960"/>
            <a:ext cx="777240" cy="777240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822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Готовы обсудить детали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54203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Проведём брифинг по виджету пожертвований и запустим проект.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154680"/>
            <a:ext cx="466344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1B3A22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3337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Екатерина Миличихина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05840" y="373075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ПОЧТА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103120" y="373075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info@snetwork.io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01421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103120" y="401421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 (495) 247-50-54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429768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103120" y="42976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snetwork.io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709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Агентство «Социальные сети» ·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snetwork.io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КП — Фонд «Добрые дела»</dc:title>
  <dc:subject>PptxGenJS Presentation</dc:subject>
  <dc:creator>Агентство «Социальные сети»</dc:creator>
  <cp:lastModifiedBy>Агентство «Социальные сети»</cp:lastModifiedBy>
  <cp:revision>1</cp:revision>
  <dcterms:created xsi:type="dcterms:W3CDTF">2026-08-05T09:20:49Z</dcterms:created>
  <dcterms:modified xsi:type="dcterms:W3CDTF">2026-08-05T09:20:49Z</dcterms:modified>
</cp:coreProperties>
</file>